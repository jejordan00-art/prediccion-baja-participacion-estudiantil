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Roboto Bold" panose="020B0604020202020204" charset="0"/>
      <p:regular r:id="rId18"/>
    </p:embeddedFont>
    <p:embeddedFont>
      <p:font typeface="Saira Medium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93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Predicción del rendimiento académico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estudiantes de Matemáticas y Portugués mediante minería de datos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Laura Ximena Sánchez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•  </a:t>
            </a:r>
            <a:r>
              <a:rPr lang="en-US" sz="14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Jhon Edison Jordan Rivas</a:t>
            </a:r>
            <a:endParaRPr lang="en-US" sz="14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D1FA1C-D514-088D-797E-AC37ED99679F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62471"/>
            <a:ext cx="2147635" cy="240308"/>
          </a:xfrm>
          <a:prstGeom prst="roundRect">
            <a:avLst>
              <a:gd name="adj" fmla="val 4738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328211" y="609898"/>
            <a:ext cx="2567519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PLANTEAMIENTO DEL PROBLEMA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233360" y="855663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 contexto del estudio</a:t>
            </a:r>
            <a:endParaRPr lang="en-US" sz="3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548309"/>
            <a:ext cx="6296860" cy="11456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759" y="1725513"/>
            <a:ext cx="58662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Factores determinantes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86759" y="2052042"/>
            <a:ext cx="5866261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rendimiento académico puede verse afectado por factores académicos, familiares y de comportamiento.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826246"/>
            <a:ext cx="6296860" cy="11456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759" y="3003451"/>
            <a:ext cx="58662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Minería de datos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86759" y="3329980"/>
            <a:ext cx="5866261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minería de datos permite identificar patrones asociados con estudiantes que presentan bajo rendimiento.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104184"/>
            <a:ext cx="6296860" cy="11456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759" y="4281388"/>
            <a:ext cx="58662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Información útil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486759" y="4607917"/>
            <a:ext cx="5866261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proyecto busca convertir esos patrones en información útil para apoyar el seguimiento académico.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382121"/>
            <a:ext cx="6296860" cy="9133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759" y="5559326"/>
            <a:ext cx="586626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Datos públicos y anonimizados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486759" y="5885855"/>
            <a:ext cx="586626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trabajará con datos públicos y anonimizados de estudiantes.</a:t>
            </a:r>
            <a:endParaRPr lang="en-US" sz="12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48580D-AE06-5525-8E1F-576639F45825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48941"/>
            <a:ext cx="2354501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74879" y="1905595"/>
            <a:ext cx="27372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DE INVESTIGACIÓN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1168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¿Qué factores permiten predecir el bajo rendimiento?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944936" y="3889077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factores académicos, familiares y de comportamiento permiten predecir el bajo rendimiento de los estudiantes en Matemáticas y Portugués, para que los docentes puedan identificar oportunamente a los estudiantes que requieren seguimiento académico?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676452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04007D-40A1-65DB-6383-8FCE1551BC06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0003"/>
            <a:ext cx="1457388" cy="258465"/>
          </a:xfrm>
          <a:prstGeom prst="roundRect">
            <a:avLst>
              <a:gd name="adj" fmla="val 47389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63469" y="711002"/>
            <a:ext cx="186298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7968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¿Qué queremos lograr?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61475" y="1913136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25221" y="1944985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97243" y="1971576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Analizar factores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97243" y="2390378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los factores académicos, familiares y de comportamiento asociados con el rendimiento en Matemáticas y Portugués.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472259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25221" y="350410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97243" y="3530699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Desarrollar análisis predictivo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97243" y="3949502"/>
            <a:ext cx="469114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un análisis predictivo para identificar estudiantes con riesgo de bajo rendimiento.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772819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25221" y="480466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97243" y="4831259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Apoyar al docente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97243" y="5250061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Proporcionar información que pueda ser utilizada por los docentes para realizar seguimiento y apoyo académico oportuno.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7226" y="1740892"/>
            <a:ext cx="5471777" cy="4457105"/>
          </a:xfrm>
          <a:prstGeom prst="roundRect">
            <a:avLst>
              <a:gd name="adj" fmla="val 5496"/>
            </a:avLst>
          </a:prstGeom>
          <a:solidFill>
            <a:srgbClr val="FC8337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57282" y="1878608"/>
            <a:ext cx="5131664" cy="1051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7282" y="3082826"/>
            <a:ext cx="5131664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Decisor principal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6357282" y="3661172"/>
            <a:ext cx="5131664" cy="1292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Docente responsable del seguimiento académico, quien utilizará los resultados para identificar estudiantes en riesgo e intervenir de manera oportuna.</a:t>
            </a:r>
            <a:endParaRPr lang="en-US" sz="16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BE52EB-318F-924A-B219-F9CD68F92F5D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85105"/>
            <a:ext cx="969641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346765" y="741759"/>
            <a:ext cx="13524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HIPÓTESIS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04784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 que esperamos encontrar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1921966"/>
            <a:ext cx="3053877" cy="2934593"/>
          </a:xfrm>
          <a:prstGeom prst="roundRect">
            <a:avLst>
              <a:gd name="adj" fmla="val 5797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441417" y="2130028"/>
            <a:ext cx="26377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Ausencias y fallos previos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41417" y="2833985"/>
            <a:ext cx="26377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mayor número de ausencias y fallos previos, junto con un menor tiempo de estudio, pueden estar relacionados con un menor rendimiento académico.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1921966"/>
            <a:ext cx="3053976" cy="2934593"/>
          </a:xfrm>
          <a:prstGeom prst="roundRect">
            <a:avLst>
              <a:gd name="adj" fmla="val 5797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684301" y="2130028"/>
            <a:ext cx="2637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Dificultades previas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84301" y="2538710"/>
            <a:ext cx="2637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espera que estudiantes con mayores dificultades académicas previas presenten mayor probabilidad de obtener un rendimiento final bajo.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5045571"/>
            <a:ext cx="6296860" cy="1127224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441417" y="5253633"/>
            <a:ext cx="5880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Apoyo al seguimiento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41417" y="5662315"/>
            <a:ext cx="58807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resultados pueden apoyar acciones de seguimiento académico.</a:t>
            </a:r>
            <a:endParaRPr lang="en-US" sz="14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114B96-0DA2-02F6-8631-7FD7FCD564E0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5105"/>
            <a:ext cx="1196251" cy="215305"/>
          </a:xfrm>
          <a:prstGeom prst="roundRect">
            <a:avLst>
              <a:gd name="adj" fmla="val 47407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46503" y="727571"/>
            <a:ext cx="16357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FUENTES DE DATOS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287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Dos conjuntos de datos públicos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2383532"/>
            <a:ext cx="5207663" cy="29510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7244" y="1664891"/>
            <a:ext cx="3579227" cy="2251770"/>
          </a:xfrm>
          <a:prstGeom prst="roundRect">
            <a:avLst>
              <a:gd name="adj" fmla="val 5666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117974" y="1825625"/>
            <a:ext cx="3257766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📐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Student Performance — Matemáticas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17974" y="2381151"/>
            <a:ext cx="3257766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Archivo: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student-mat.csv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395 estudiantes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33 variables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Rendimiento en Matemáticas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académicas y de comportamiento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Calificación final: </a:t>
            </a:r>
            <a:r>
              <a:rPr lang="en-US" sz="1100" b="1" dirty="0">
                <a:solidFill>
                  <a:srgbClr val="FC833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7244" y="4022923"/>
            <a:ext cx="3579227" cy="2030313"/>
          </a:xfrm>
          <a:prstGeom prst="roundRect">
            <a:avLst>
              <a:gd name="adj" fmla="val 6284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117974" y="4183658"/>
            <a:ext cx="3257766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📚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Student Performance — Portugués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17974" y="4517727"/>
            <a:ext cx="3257766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Archivo: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student-por.csv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649 estudiantes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33 variables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Rendimiento en Portugués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académicas y de comportamiento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Calificación final: </a:t>
            </a:r>
            <a:r>
              <a:rPr lang="en-US" sz="1100" b="1" dirty="0">
                <a:solidFill>
                  <a:srgbClr val="FC833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G3</a:t>
            </a:r>
            <a:endParaRPr lang="en-US" sz="11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09F895-8950-2507-7127-D99E8C74EBA6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4143"/>
            <a:ext cx="1579126" cy="258465"/>
          </a:xfrm>
          <a:prstGeom prst="roundRect">
            <a:avLst>
              <a:gd name="adj" fmla="val 47389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63469" y="655141"/>
            <a:ext cx="198472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COMUNES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2382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33 variables compartidas entre ambos datasets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5032"/>
            <a:ext cx="425241" cy="425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301577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studytime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2659063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semanal dedicado al estudio.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153" y="1685032"/>
            <a:ext cx="425241" cy="425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8153" y="2301577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failures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348153" y="2659063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Número de fallos académicos previos.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831" y="1685032"/>
            <a:ext cx="425241" cy="4252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4831" y="2301577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absences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034831" y="2659063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Número total de ausencias registradas.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23816"/>
            <a:ext cx="425241" cy="4252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384036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Medu / Fedu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61475" y="4197846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 educativo de madre y padre.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8153" y="3223816"/>
            <a:ext cx="425241" cy="4252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8153" y="384036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schoolsup / famsup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348153" y="4197846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Apoyo escolar y apoyo familiar.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4831" y="3223816"/>
            <a:ext cx="425241" cy="4252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34831" y="384036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activities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8034831" y="4197846"/>
            <a:ext cx="349538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Participación en actividades extracurriculares.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762599"/>
            <a:ext cx="425241" cy="42525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1475" y="5379145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G3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661475" y="5736630"/>
            <a:ext cx="349538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Calificación final — variable objetivo del modelo.</a:t>
            </a:r>
            <a:endParaRPr lang="en-US" sz="13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2514C52-79B8-83AD-4430-DFC605F044FF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8905"/>
            <a:ext cx="1564938" cy="229691"/>
          </a:xfrm>
          <a:prstGeom prst="roundRect">
            <a:avLst>
              <a:gd name="adj" fmla="val 47401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52159" y="654248"/>
            <a:ext cx="19931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PREPARACIÓN DE DATOS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8691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Cruce y preparación en Google Colab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540768"/>
            <a:ext cx="8694917" cy="3912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58129" y="1722090"/>
            <a:ext cx="1521603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Cargar archivos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058129" y="2024119"/>
            <a:ext cx="1521603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Leer ambos CSV con sep=';'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63010" y="4454459"/>
            <a:ext cx="1529963" cy="470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Comprobar dimensiones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63010" y="4991632"/>
            <a:ext cx="1529963" cy="507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 filas, columnas y 33 comunes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51171" y="1575256"/>
            <a:ext cx="1521602" cy="47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Verificar coincidencias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51171" y="2112428"/>
            <a:ext cx="1521602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Cruzar solo estudiantes validados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56054" y="4539111"/>
            <a:ext cx="1521602" cy="470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Comparar variables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56054" y="5076284"/>
            <a:ext cx="1521602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G3, absences, studytime, failures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5589588"/>
            <a:ext cx="10868745" cy="65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cargan ambos archivos con </a:t>
            </a:r>
            <a:r>
              <a:rPr lang="en-US" sz="11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pd.read_csv("student-mat.csv", sep=";")</a:t>
            </a: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11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pd.read_csv("student-por.csv", sep=";")</a:t>
            </a: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 comprueban dimensiones y columnas comunes, se verifican las coincidencias de estudiantes y se realiza el cruce únicamente sobre coincidencias verificadas para comparar posteriormente G3, ausencias, tiempo de estudio y fallos.</a:t>
            </a:r>
            <a:endParaRPr lang="en-US" sz="11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480522-64E8-28A4-51AF-E606660F2DE9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431"/>
            <a:ext cx="1265801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74879" y="586085"/>
            <a:ext cx="16485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METODOLOGÍA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21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Flujo de trabajo en seis etapas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6629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062163"/>
            <a:ext cx="5339820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61475" y="220741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Carga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61610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Importación de los datasets student-mat.csv y student-por.csv.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90301" y="176629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2062163"/>
            <a:ext cx="5339919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190301" y="220741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Limpieza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90301" y="2616101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datos faltantes y verificación de consistencia.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324921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3545086"/>
            <a:ext cx="5339820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1475" y="369034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Exploración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4099024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Estadísticas descriptivas y análisis de relaciones entre variables.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0301" y="324921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3545086"/>
            <a:ext cx="5339919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190301" y="369034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Cruce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190301" y="4099024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Comparación entre Matemáticas y Portugués.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1475" y="503455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330428"/>
            <a:ext cx="5339820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61475" y="547568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Modelo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61475" y="5884366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Predicción de bajo rendimiento.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90301" y="503455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90301" y="5330428"/>
            <a:ext cx="5339919" cy="2540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90301" y="5475684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Evaluación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6190301" y="5884366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Accuracy, precision, recall y F1.</a:t>
            </a:r>
            <a:endParaRPr lang="en-US" sz="145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0C27BD4-0C2A-C5F5-E247-0D688C7D112D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9927"/>
            <a:ext cx="1707115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74879" y="1056580"/>
            <a:ext cx="20898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PREDICTIVO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62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Variables del modelo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2579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Predictores propuestos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10086"/>
            <a:ext cx="5203794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studytime — tiempo de estudio semanal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failures — fallos académicos previos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absences — número de ausencias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Medu / Fedu — nivel educativo de los padres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schoolsup / famsup — apoyo escolar y familiar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activities — actividades extracurriculares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freetime / goout — tiempo libre y salidas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— percepción del estado de salud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236788"/>
            <a:ext cx="5476043" cy="3621286"/>
          </a:xfrm>
          <a:prstGeom prst="roundRect">
            <a:avLst>
              <a:gd name="adj" fmla="val 7516"/>
            </a:avLst>
          </a:prstGeom>
          <a:solidFill>
            <a:srgbClr val="FC8337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85658" y="242579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Variable objetivo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910086"/>
            <a:ext cx="5098029" cy="21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G3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calificación final del estudiante.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recomienda evaluar el modelo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G1 y G2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se quiera predecir el rendimiento final a partir de factores previos.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criterio de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«bajo rendimiento»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debe definirse y justificarse antes del entrenamiento.</a:t>
            </a:r>
            <a:endParaRPr lang="en-US" sz="14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B29642-0E69-F54F-D2FF-2B923AD984E6}"/>
              </a:ext>
            </a:extLst>
          </p:cNvPr>
          <p:cNvSpPr/>
          <p:nvPr/>
        </p:nvSpPr>
        <p:spPr>
          <a:xfrm>
            <a:off x="10730204" y="6350993"/>
            <a:ext cx="1461796" cy="5070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717</Words>
  <Application>Microsoft Office PowerPoint</Application>
  <PresentationFormat>Panorámica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Roboto</vt:lpstr>
      <vt:lpstr>Noto Color Emoji</vt:lpstr>
      <vt:lpstr>Arial</vt:lpstr>
      <vt:lpstr>Roboto Bold</vt:lpstr>
      <vt:lpstr>Saira Medium</vt:lpstr>
      <vt:lpstr>Saira Light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LAURA SANCHEZ</dc:creator>
  <cp:lastModifiedBy>laura sanchez</cp:lastModifiedBy>
  <cp:revision>2</cp:revision>
  <dcterms:created xsi:type="dcterms:W3CDTF">2026-09-29T03:43:44Z</dcterms:created>
  <dcterms:modified xsi:type="dcterms:W3CDTF">2026-09-29T03:45:31Z</dcterms:modified>
</cp:coreProperties>
</file>